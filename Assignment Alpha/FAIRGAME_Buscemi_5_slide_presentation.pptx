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 w="12700">
            <a:solidFill>
              <a:srgbClr val="0E11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6D1D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AI Agents Interact, New Biases Can Emerge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73152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7B3"/>
                </a:solidFill>
              </a:rPr>
              <a:t>Why FAIRGAME?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65192" y="1874520"/>
            <a:ext cx="2249424" cy="1755648"/>
          </a:xfrm>
          <a:prstGeom prst="roundRect">
            <a:avLst>
              <a:gd name="adj" fmla="val 2604"/>
            </a:avLst>
          </a:prstGeom>
          <a:solidFill>
            <a:srgbClr val="101822"/>
          </a:solidFill>
          <a:ln w="12700">
            <a:solidFill>
              <a:srgbClr val="36D1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1874520"/>
            <a:ext cx="0" cy="1755648"/>
          </a:xfrm>
          <a:prstGeom prst="line">
            <a:avLst/>
          </a:prstGeom>
          <a:solidFill>
            <a:srgbClr val="000000">
              <a:alpha val="0"/>
            </a:srgbClr>
          </a:solidFill>
          <a:ln w="12700">
            <a:solidFill>
              <a:srgbClr val="31405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65192" y="2459736"/>
            <a:ext cx="2249424" cy="0"/>
          </a:xfrm>
          <a:prstGeom prst="line">
            <a:avLst/>
          </a:prstGeom>
          <a:solidFill>
            <a:srgbClr val="000000">
              <a:alpha val="0"/>
            </a:srgbClr>
          </a:solidFill>
          <a:ln w="12700">
            <a:solidFill>
              <a:srgbClr val="31405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64808" y="1874520"/>
            <a:ext cx="0" cy="1755648"/>
          </a:xfrm>
          <a:prstGeom prst="line">
            <a:avLst/>
          </a:prstGeom>
          <a:solidFill>
            <a:srgbClr val="000000">
              <a:alpha val="0"/>
            </a:srgbClr>
          </a:solidFill>
          <a:ln w="12700">
            <a:solidFill>
              <a:srgbClr val="31405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65192" y="3044952"/>
            <a:ext cx="2249424" cy="0"/>
          </a:xfrm>
          <a:prstGeom prst="line">
            <a:avLst/>
          </a:prstGeom>
          <a:solidFill>
            <a:srgbClr val="000000">
              <a:alpha val="0"/>
            </a:srgbClr>
          </a:solidFill>
          <a:ln w="12700">
            <a:solidFill>
              <a:srgbClr val="3140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24144" y="1947672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DA7B3"/>
                </a:solidFill>
              </a:rPr>
              <a:t>A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73952" y="1947672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DA7B3"/>
                </a:solidFill>
              </a:rPr>
              <a:t>B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38344" y="2651760"/>
            <a:ext cx="603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DA7B3"/>
                </a:solidFill>
              </a:rPr>
              <a:t>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38344" y="3236976"/>
            <a:ext cx="603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DA7B3"/>
                </a:solidFill>
              </a:rPr>
              <a:t>B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733288" y="2660904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ED99"/>
                </a:solidFill>
              </a:rPr>
              <a:t>(R,R)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83096" y="2660904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3F6FA"/>
                </a:solidFill>
              </a:rPr>
              <a:t>(S,T)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733288" y="3246120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3F6FA"/>
                </a:solidFill>
              </a:rPr>
              <a:t>(T,S)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83096" y="3246120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3F6FA"/>
                </a:solidFill>
              </a:rPr>
              <a:t>(P,P)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102352" y="3685032"/>
            <a:ext cx="1975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DA7B3"/>
                </a:solidFill>
              </a:rPr>
              <a:t>payoff matrix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383280" y="2194560"/>
            <a:ext cx="749808" cy="749808"/>
          </a:xfrm>
          <a:prstGeom prst="ellipse">
            <a:avLst/>
          </a:prstGeom>
          <a:solidFill>
            <a:srgbClr val="36D1DC">
              <a:alpha val="85000"/>
            </a:srgbClr>
          </a:solidFill>
          <a:ln w="12700">
            <a:solidFill>
              <a:srgbClr val="36D1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47872" y="2368296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6FA"/>
                </a:solidFill>
              </a:rPr>
              <a:t>AI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566160" y="2633472"/>
            <a:ext cx="384048" cy="128016"/>
          </a:xfrm>
          <a:prstGeom prst="arc">
            <a:avLst/>
          </a:prstGeom>
          <a:noFill/>
          <a:ln w="12700">
            <a:solidFill>
              <a:srgbClr val="F3F6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304495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C8D1DC"/>
                </a:solidFill>
              </a:rPr>
              <a:t>Agent 1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8046720" y="2194560"/>
            <a:ext cx="749808" cy="749808"/>
          </a:xfrm>
          <a:prstGeom prst="ellipse">
            <a:avLst/>
          </a:prstGeom>
          <a:solidFill>
            <a:srgbClr val="9B5DE5">
              <a:alpha val="85000"/>
            </a:srgbClr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11312" y="2368296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6FA"/>
                </a:solidFill>
              </a:rPr>
              <a:t>AI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229600" y="2633472"/>
            <a:ext cx="384048" cy="128016"/>
          </a:xfrm>
          <a:prstGeom prst="arc">
            <a:avLst/>
          </a:prstGeom>
          <a:noFill/>
          <a:ln w="12700">
            <a:solidFill>
              <a:srgbClr val="F3F6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0" y="304495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C8D1DC"/>
                </a:solidFill>
              </a:rPr>
              <a:t>Agent 2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4160520" y="2578608"/>
            <a:ext cx="731520" cy="0"/>
          </a:xfrm>
          <a:prstGeom prst="line">
            <a:avLst/>
          </a:prstGeom>
          <a:solidFill>
            <a:srgbClr val="000000">
              <a:alpha val="0"/>
            </a:srgbClr>
          </a:solidFill>
          <a:ln w="12700">
            <a:solidFill>
              <a:srgbClr val="36D1DC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973568" y="2578608"/>
            <a:ext cx="-694944" cy="0"/>
          </a:xfrm>
          <a:prstGeom prst="line">
            <a:avLst/>
          </a:prstGeom>
          <a:solidFill>
            <a:srgbClr val="000000">
              <a:alpha val="0"/>
            </a:srgbClr>
          </a:solidFill>
          <a:ln w="12700">
            <a:solidFill>
              <a:srgbClr val="9B5DE5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965960" y="1408176"/>
            <a:ext cx="1078992" cy="310896"/>
          </a:xfrm>
          <a:prstGeom prst="roundRect">
            <a:avLst>
              <a:gd name="adj" fmla="val 17647"/>
            </a:avLst>
          </a:prstGeom>
          <a:solidFill>
            <a:srgbClr val="36D1DC">
              <a:alpha val="16000"/>
            </a:srgbClr>
          </a:solidFill>
          <a:ln w="12700">
            <a:solidFill>
              <a:srgbClr val="36D1DC">
                <a:alpha val="8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20824" y="1476756"/>
            <a:ext cx="969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F6FA"/>
                </a:solidFill>
              </a:rPr>
              <a:t>Language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505456" y="1737360"/>
            <a:ext cx="3584448" cy="109728"/>
          </a:xfrm>
          <a:prstGeom prst="line">
            <a:avLst/>
          </a:prstGeom>
          <a:solidFill>
            <a:srgbClr val="000000">
              <a:alpha val="0"/>
            </a:srgbClr>
          </a:solidFill>
          <a:ln w="12700">
            <a:solidFill>
              <a:srgbClr val="36D1DC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794760" y="1216152"/>
            <a:ext cx="1078992" cy="310896"/>
          </a:xfrm>
          <a:prstGeom prst="roundRect">
            <a:avLst>
              <a:gd name="adj" fmla="val 17647"/>
            </a:avLst>
          </a:prstGeom>
          <a:solidFill>
            <a:srgbClr val="9B5DE5">
              <a:alpha val="16000"/>
            </a:srgbClr>
          </a:solidFill>
          <a:ln w="12700">
            <a:solidFill>
              <a:srgbClr val="9B5DE5">
                <a:alpha val="8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9624" y="1284732"/>
            <a:ext cx="969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F6FA"/>
                </a:solidFill>
              </a:rPr>
              <a:t>Personality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334256" y="1545336"/>
            <a:ext cx="1755648" cy="301752"/>
          </a:xfrm>
          <a:prstGeom prst="line">
            <a:avLst/>
          </a:prstGeom>
          <a:solidFill>
            <a:srgbClr val="000000">
              <a:alpha val="0"/>
            </a:srgbClr>
          </a:solidFill>
          <a:ln w="12700">
            <a:solidFill>
              <a:srgbClr val="9B5DE5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623560" y="1115568"/>
            <a:ext cx="1078992" cy="310896"/>
          </a:xfrm>
          <a:prstGeom prst="roundRect">
            <a:avLst>
              <a:gd name="adj" fmla="val 17647"/>
            </a:avLst>
          </a:prstGeom>
          <a:solidFill>
            <a:srgbClr val="4EA8DE">
              <a:alpha val="16000"/>
            </a:srgbClr>
          </a:solidFill>
          <a:ln w="12700">
            <a:solidFill>
              <a:srgbClr val="4EA8DE">
                <a:alpha val="8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78424" y="1184148"/>
            <a:ext cx="969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F6FA"/>
                </a:solidFill>
              </a:rPr>
              <a:t>LLM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163056" y="1444752"/>
            <a:ext cx="-73152" cy="402336"/>
          </a:xfrm>
          <a:prstGeom prst="line">
            <a:avLst/>
          </a:prstGeom>
          <a:solidFill>
            <a:srgbClr val="000000">
              <a:alpha val="0"/>
            </a:srgbClr>
          </a:solidFill>
          <a:ln w="12700">
            <a:solidFill>
              <a:srgbClr val="4EA8DE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434072" y="1216152"/>
            <a:ext cx="1078992" cy="310896"/>
          </a:xfrm>
          <a:prstGeom prst="roundRect">
            <a:avLst>
              <a:gd name="adj" fmla="val 17647"/>
            </a:avLst>
          </a:prstGeom>
          <a:solidFill>
            <a:srgbClr val="FFB703">
              <a:alpha val="16000"/>
            </a:srgbClr>
          </a:solidFill>
          <a:ln w="12700">
            <a:solidFill>
              <a:srgbClr val="FFB703">
                <a:alpha val="8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88936" y="1284732"/>
            <a:ext cx="969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F6FA"/>
                </a:solidFill>
              </a:rPr>
              <a:t>Payoff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973568" y="1545336"/>
            <a:ext cx="-1883664" cy="301752"/>
          </a:xfrm>
          <a:prstGeom prst="line">
            <a:avLst/>
          </a:prstGeom>
          <a:solidFill>
            <a:srgbClr val="000000">
              <a:alpha val="0"/>
            </a:srgbClr>
          </a:solidFill>
          <a:ln w="12700">
            <a:solidFill>
              <a:srgbClr val="FFB703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9217152" y="1408176"/>
            <a:ext cx="1078992" cy="310896"/>
          </a:xfrm>
          <a:prstGeom prst="roundRect">
            <a:avLst>
              <a:gd name="adj" fmla="val 17647"/>
            </a:avLst>
          </a:prstGeom>
          <a:solidFill>
            <a:srgbClr val="80ED99">
              <a:alpha val="16000"/>
            </a:srgbClr>
          </a:solidFill>
          <a:ln w="12700">
            <a:solidFill>
              <a:srgbClr val="80ED99">
                <a:alpha val="8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272016" y="1476756"/>
            <a:ext cx="969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F6FA"/>
                </a:solidFill>
              </a:rPr>
              <a:t>Knowledge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9756648" y="1737360"/>
            <a:ext cx="-3666744" cy="109728"/>
          </a:xfrm>
          <a:prstGeom prst="line">
            <a:avLst/>
          </a:prstGeom>
          <a:solidFill>
            <a:srgbClr val="000000">
              <a:alpha val="0"/>
            </a:srgbClr>
          </a:solidFill>
          <a:ln w="12700">
            <a:solidFill>
              <a:srgbClr val="80ED99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21792" y="4242816"/>
            <a:ext cx="3310128" cy="1005840"/>
          </a:xfrm>
          <a:prstGeom prst="roundRect">
            <a:avLst>
              <a:gd name="adj" fmla="val 7273"/>
            </a:avLst>
          </a:prstGeom>
          <a:solidFill>
            <a:srgbClr val="151B23"/>
          </a:solidFill>
          <a:ln w="12700">
            <a:solidFill>
              <a:srgbClr val="2C384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1792" y="4242816"/>
            <a:ext cx="45720" cy="1005840"/>
          </a:xfrm>
          <a:prstGeom prst="rect">
            <a:avLst/>
          </a:prstGeom>
          <a:solidFill>
            <a:srgbClr val="FF6B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6384" y="437997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6FA"/>
                </a:solidFill>
              </a:rPr>
              <a:t>Problem shift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86384" y="4700016"/>
            <a:ext cx="3017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C8D1DC"/>
                </a:solidFill>
              </a:rPr>
              <a:t>• Single-agent bias is not enough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C8D1DC"/>
                </a:solidFill>
              </a:rPr>
              <a:t>• Multi-agent strategic behavior can emerge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C8D1DC"/>
                </a:solidFill>
              </a:rPr>
              <a:t>• Outcomes change with context + incentives</a:t>
            </a:r>
            <a:endParaRPr lang="en-US" sz="840" dirty="0"/>
          </a:p>
        </p:txBody>
      </p:sp>
      <p:sp>
        <p:nvSpPr>
          <p:cNvPr id="49" name="Shape 47"/>
          <p:cNvSpPr/>
          <p:nvPr/>
        </p:nvSpPr>
        <p:spPr>
          <a:xfrm>
            <a:off x="4425696" y="4242816"/>
            <a:ext cx="3337560" cy="1005840"/>
          </a:xfrm>
          <a:prstGeom prst="roundRect">
            <a:avLst>
              <a:gd name="adj" fmla="val 7273"/>
            </a:avLst>
          </a:prstGeom>
          <a:solidFill>
            <a:srgbClr val="151B23"/>
          </a:solidFill>
          <a:ln w="12700">
            <a:solidFill>
              <a:srgbClr val="2C384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425696" y="4242816"/>
            <a:ext cx="45720" cy="1005840"/>
          </a:xfrm>
          <a:prstGeom prst="rect">
            <a:avLst/>
          </a:prstGeom>
          <a:solidFill>
            <a:srgbClr val="36D1D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90288" y="4379976"/>
            <a:ext cx="3044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6FA"/>
                </a:solidFill>
              </a:rPr>
              <a:t>Game theory lens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590288" y="4700016"/>
            <a:ext cx="304495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C8D1DC"/>
                </a:solidFill>
              </a:rPr>
              <a:t>• Controlled strategic settings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C8D1DC"/>
                </a:solidFill>
              </a:rPr>
              <a:t>• Compare LLM behavior with predictions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C8D1DC"/>
                </a:solidFill>
              </a:rPr>
              <a:t>• Reveal inconsistencies across conditions</a:t>
            </a:r>
            <a:endParaRPr lang="en-US" sz="840" dirty="0"/>
          </a:p>
        </p:txBody>
      </p:sp>
      <p:sp>
        <p:nvSpPr>
          <p:cNvPr id="53" name="Shape 51"/>
          <p:cNvSpPr/>
          <p:nvPr/>
        </p:nvSpPr>
        <p:spPr>
          <a:xfrm>
            <a:off x="8257032" y="4242816"/>
            <a:ext cx="3310128" cy="1005840"/>
          </a:xfrm>
          <a:prstGeom prst="roundRect">
            <a:avLst>
              <a:gd name="adj" fmla="val 7273"/>
            </a:avLst>
          </a:prstGeom>
          <a:solidFill>
            <a:srgbClr val="151B23"/>
          </a:solidFill>
          <a:ln w="12700">
            <a:solidFill>
              <a:srgbClr val="2C384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257032" y="4242816"/>
            <a:ext cx="45720" cy="1005840"/>
          </a:xfrm>
          <a:prstGeom prst="rect">
            <a:avLst/>
          </a:prstGeom>
          <a:solidFill>
            <a:srgbClr val="FFB70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421624" y="437997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6FA"/>
                </a:solidFill>
              </a:rPr>
              <a:t>FAIRGAME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421624" y="4700016"/>
            <a:ext cx="3017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C8D1DC"/>
                </a:solidFill>
              </a:rPr>
              <a:t>Framework for AI Agents Bias Recognition using Game Theory</a:t>
            </a:r>
            <a:endParaRPr lang="en-US" sz="840" dirty="0"/>
          </a:p>
        </p:txBody>
      </p:sp>
      <p:sp>
        <p:nvSpPr>
          <p:cNvPr id="57" name="Shape 55"/>
          <p:cNvSpPr/>
          <p:nvPr/>
        </p:nvSpPr>
        <p:spPr>
          <a:xfrm>
            <a:off x="1417320" y="5623560"/>
            <a:ext cx="9372600" cy="502920"/>
          </a:xfrm>
          <a:prstGeom prst="roundRect">
            <a:avLst>
              <a:gd name="adj" fmla="val 14545"/>
            </a:avLst>
          </a:prstGeom>
          <a:solidFill>
            <a:srgbClr val="112330"/>
          </a:solidFill>
          <a:ln w="12700">
            <a:solidFill>
              <a:srgbClr val="36D1D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664208" y="5769864"/>
            <a:ext cx="8887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6FA"/>
                </a:solidFill>
              </a:rPr>
              <a:t>Can game theory be used as a controlled framework for detecting and comparing biases in interacting AI agents?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420624" y="6547104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657184"/>
                </a:solidFill>
              </a:rPr>
              <a:t>Buscemi et al. · FAIRGAME: AI Agents Bias Recognition using Game Theory</a:t>
            </a:r>
            <a:endParaRPr lang="en-US" sz="670" dirty="0"/>
          </a:p>
        </p:txBody>
      </p:sp>
      <p:sp>
        <p:nvSpPr>
          <p:cNvPr id="60" name="Text 58"/>
          <p:cNvSpPr/>
          <p:nvPr/>
        </p:nvSpPr>
        <p:spPr>
          <a:xfrm>
            <a:off x="10908792" y="651052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36D1DC"/>
                </a:solidFill>
              </a:rPr>
              <a:t>FAIRGAME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 w="12700">
            <a:solidFill>
              <a:srgbClr val="0E11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6D1D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Reproducible Pipeline for Game-Theoretic LLM Experiments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73152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7B3"/>
                </a:solidFill>
              </a:rPr>
              <a:t>How FAIRGAME works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1417320" cy="1097280"/>
          </a:xfrm>
          <a:prstGeom prst="roundRect">
            <a:avLst>
              <a:gd name="adj" fmla="val 6667"/>
            </a:avLst>
          </a:prstGeom>
          <a:solidFill>
            <a:srgbClr val="151B2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2313432"/>
            <a:ext cx="1197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6FA"/>
                </a:solidFill>
              </a:rPr>
              <a:t>Config file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63347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C8D1DC"/>
                </a:solidFill>
              </a:rPr>
              <a:t>game · payoff · LLM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C8D1DC"/>
                </a:solidFill>
              </a:rPr>
              <a:t>languages · traits · rounds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1947672" y="2697480"/>
            <a:ext cx="429768" cy="0"/>
          </a:xfrm>
          <a:prstGeom prst="line">
            <a:avLst/>
          </a:prstGeom>
          <a:solidFill>
            <a:srgbClr val="000000">
              <a:alpha val="0"/>
            </a:srgbClr>
          </a:solidFill>
          <a:ln w="12700">
            <a:solidFill>
              <a:srgbClr val="9DA7B3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423160" y="2148840"/>
            <a:ext cx="1417320" cy="1097280"/>
          </a:xfrm>
          <a:prstGeom prst="roundRect">
            <a:avLst>
              <a:gd name="adj" fmla="val 6667"/>
            </a:avLst>
          </a:prstGeom>
          <a:solidFill>
            <a:srgbClr val="151B23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32888" y="2313432"/>
            <a:ext cx="1197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6FA"/>
                </a:solidFill>
              </a:rPr>
              <a:t>Prompt template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4600" y="263347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C8D1DC"/>
                </a:solidFill>
              </a:rPr>
              <a:t>game description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C8D1DC"/>
                </a:solidFill>
              </a:rPr>
              <a:t>strategies · history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867912" y="2697480"/>
            <a:ext cx="521208" cy="0"/>
          </a:xfrm>
          <a:prstGeom prst="line">
            <a:avLst/>
          </a:prstGeom>
          <a:solidFill>
            <a:srgbClr val="000000">
              <a:alpha val="0"/>
            </a:srgbClr>
          </a:solidFill>
          <a:ln w="12700">
            <a:solidFill>
              <a:srgbClr val="9DA7B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434840" y="2148840"/>
            <a:ext cx="1417320" cy="1097280"/>
          </a:xfrm>
          <a:prstGeom prst="roundRect">
            <a:avLst>
              <a:gd name="adj" fmla="val 6667"/>
            </a:avLst>
          </a:prstGeom>
          <a:solidFill>
            <a:srgbClr val="151B23"/>
          </a:solidFill>
          <a:ln w="12700">
            <a:solidFill>
              <a:srgbClr val="36D1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2313432"/>
            <a:ext cx="1197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6FA"/>
                </a:solidFill>
              </a:rPr>
              <a:t>FAIRGAME engine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6280" y="263347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C8D1DC"/>
                </a:solidFill>
              </a:rPr>
              <a:t>validate · instantiate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C8D1DC"/>
                </a:solidFill>
              </a:rPr>
              <a:t>execute repeated games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5879592" y="2697480"/>
            <a:ext cx="566928" cy="0"/>
          </a:xfrm>
          <a:prstGeom prst="line">
            <a:avLst/>
          </a:prstGeom>
          <a:solidFill>
            <a:srgbClr val="000000">
              <a:alpha val="0"/>
            </a:srgbClr>
          </a:solidFill>
          <a:ln w="12700">
            <a:solidFill>
              <a:srgbClr val="9DA7B3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492240" y="2148840"/>
            <a:ext cx="1417320" cy="1097280"/>
          </a:xfrm>
          <a:prstGeom prst="roundRect">
            <a:avLst>
              <a:gd name="adj" fmla="val 6667"/>
            </a:avLst>
          </a:prstGeom>
          <a:solidFill>
            <a:srgbClr val="151B23"/>
          </a:solidFill>
          <a:ln w="12700">
            <a:solidFill>
              <a:srgbClr val="4EA8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01968" y="2313432"/>
            <a:ext cx="1197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6FA"/>
                </a:solidFill>
              </a:rPr>
              <a:t>LLM agents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263347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C8D1DC"/>
                </a:solidFill>
              </a:rPr>
              <a:t>choose strategy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C8D1DC"/>
                </a:solidFill>
              </a:rPr>
              <a:t>from generated prompt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7936992" y="2697480"/>
            <a:ext cx="429768" cy="0"/>
          </a:xfrm>
          <a:prstGeom prst="line">
            <a:avLst/>
          </a:prstGeom>
          <a:solidFill>
            <a:srgbClr val="000000">
              <a:alpha val="0"/>
            </a:srgbClr>
          </a:solidFill>
          <a:ln w="12700">
            <a:solidFill>
              <a:srgbClr val="9DA7B3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412480" y="2148840"/>
            <a:ext cx="1417320" cy="1097280"/>
          </a:xfrm>
          <a:prstGeom prst="roundRect">
            <a:avLst>
              <a:gd name="adj" fmla="val 6667"/>
            </a:avLst>
          </a:prstGeom>
          <a:solidFill>
            <a:srgbClr val="151B23"/>
          </a:solidFill>
          <a:ln w="12700">
            <a:solidFill>
              <a:srgbClr val="80ED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22208" y="2313432"/>
            <a:ext cx="1197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6FA"/>
                </a:solidFill>
              </a:rPr>
              <a:t>Game history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03920" y="263347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C8D1DC"/>
                </a:solidFill>
              </a:rPr>
              <a:t>payoff · moves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C8D1DC"/>
                </a:solidFill>
              </a:rPr>
              <a:t>standardized output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9857232" y="2697480"/>
            <a:ext cx="384048" cy="0"/>
          </a:xfrm>
          <a:prstGeom prst="line">
            <a:avLst/>
          </a:prstGeom>
          <a:solidFill>
            <a:srgbClr val="000000">
              <a:alpha val="0"/>
            </a:srgbClr>
          </a:solidFill>
          <a:ln w="12700">
            <a:solidFill>
              <a:srgbClr val="9DA7B3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287000" y="2148840"/>
            <a:ext cx="1417320" cy="1097280"/>
          </a:xfrm>
          <a:prstGeom prst="roundRect">
            <a:avLst>
              <a:gd name="adj" fmla="val 6667"/>
            </a:avLst>
          </a:prstGeom>
          <a:solidFill>
            <a:srgbClr val="151B23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96728" y="2313432"/>
            <a:ext cx="1197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6FA"/>
                </a:solidFill>
              </a:rPr>
              <a:t>Bias analysis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378440" y="263347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C8D1DC"/>
                </a:solidFill>
              </a:rPr>
              <a:t>compare conditions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C8D1DC"/>
                </a:solidFill>
              </a:rPr>
              <a:t>vs. game predictions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5074920" y="3913632"/>
            <a:ext cx="3017520" cy="1280160"/>
          </a:xfrm>
          <a:prstGeom prst="roundRect">
            <a:avLst>
              <a:gd name="adj" fmla="val 5714"/>
            </a:avLst>
          </a:prstGeom>
          <a:solidFill>
            <a:srgbClr val="101822"/>
          </a:solidFill>
          <a:ln w="12700">
            <a:solidFill>
              <a:srgbClr val="36D1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66944" y="4087368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D1DC"/>
                </a:solidFill>
              </a:rPr>
              <a:t>Repeated round loop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57800" y="446227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C8D1DC"/>
                </a:solidFill>
              </a:rPr>
              <a:t>Generate prompt → LLM choice → compute payoff → update history → repeat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60920" y="3255264"/>
            <a:ext cx="91440" cy="640080"/>
          </a:xfrm>
          <a:prstGeom prst="line">
            <a:avLst/>
          </a:prstGeom>
          <a:solidFill>
            <a:srgbClr val="000000">
              <a:alpha val="0"/>
            </a:srgbClr>
          </a:solidFill>
          <a:ln w="12700">
            <a:solidFill>
              <a:srgbClr val="36D1DC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452360" y="5212080"/>
            <a:ext cx="1691640" cy="-1965960"/>
          </a:xfrm>
          <a:prstGeom prst="line">
            <a:avLst/>
          </a:prstGeom>
          <a:solidFill>
            <a:srgbClr val="000000">
              <a:alpha val="0"/>
            </a:srgbClr>
          </a:solidFill>
          <a:ln w="12700">
            <a:solidFill>
              <a:srgbClr val="36D1DC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2971800" y="5669280"/>
            <a:ext cx="6272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6FA"/>
                </a:solidFill>
              </a:rPr>
              <a:t>Supports different LLM APIs and multilingual prompt templates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20624" y="6547104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657184"/>
                </a:solidFill>
              </a:rPr>
              <a:t>Buscemi et al. · FAIRGAME: AI Agents Bias Recognition using Game Theory</a:t>
            </a:r>
            <a:endParaRPr lang="en-US" sz="670" dirty="0"/>
          </a:p>
        </p:txBody>
      </p:sp>
      <p:sp>
        <p:nvSpPr>
          <p:cNvPr id="36" name="Text 34"/>
          <p:cNvSpPr/>
          <p:nvPr/>
        </p:nvSpPr>
        <p:spPr>
          <a:xfrm>
            <a:off x="10908792" y="651052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36D1DC"/>
                </a:solidFill>
              </a:rPr>
              <a:t>FAIRGAME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 w="12700">
            <a:solidFill>
              <a:srgbClr val="0E11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6D1D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72,000 Decisions Across Models, Languages &amp; Strategies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73152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7B3"/>
                </a:solidFill>
              </a:rPr>
              <a:t>Experimental setup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58368" y="1143000"/>
            <a:ext cx="4251960" cy="1417320"/>
          </a:xfrm>
          <a:prstGeom prst="roundRect">
            <a:avLst>
              <a:gd name="adj" fmla="val 6452"/>
            </a:avLst>
          </a:prstGeom>
          <a:solidFill>
            <a:srgbClr val="132331"/>
          </a:solidFill>
          <a:ln w="12700">
            <a:solidFill>
              <a:srgbClr val="36D1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40817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6D1DC"/>
                </a:solidFill>
              </a:rPr>
              <a:t>72,000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794760" y="162763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1DC"/>
                </a:solidFill>
              </a:rPr>
              <a:t>individual decisions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69264" y="2057400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DA7B3"/>
                </a:solidFill>
              </a:rPr>
              <a:t>4 LLMs × 5 languages × 18 games × 10 repeats × 10 rounds × 2 agents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658368" y="2971800"/>
            <a:ext cx="2743200" cy="2359152"/>
          </a:xfrm>
          <a:prstGeom prst="roundRect">
            <a:avLst>
              <a:gd name="adj" fmla="val 2326"/>
            </a:avLst>
          </a:prstGeom>
          <a:solidFill>
            <a:srgbClr val="151B23"/>
          </a:solidFill>
          <a:ln w="12700">
            <a:solidFill>
              <a:srgbClr val="2C38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971800"/>
            <a:ext cx="2743200" cy="384048"/>
          </a:xfrm>
          <a:prstGeom prst="rect">
            <a:avLst/>
          </a:prstGeom>
          <a:solidFill>
            <a:srgbClr val="36D1DC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3090672"/>
            <a:ext cx="2523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F6FA"/>
                </a:solidFill>
              </a:rPr>
              <a:t>LLM Agents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" y="3602736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C8D1DC"/>
                </a:solidFill>
              </a:rPr>
              <a:t>• Llama 3.1 405B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859536" y="3950208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C8D1DC"/>
                </a:solidFill>
              </a:rPr>
              <a:t>• Mistral Large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859536" y="4297680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C8D1DC"/>
                </a:solidFill>
              </a:rPr>
              <a:t>• GPT-4o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859536" y="4645152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C8D1DC"/>
                </a:solidFill>
              </a:rPr>
              <a:t>• Claude 3.5 Sonnet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3520440" y="2971800"/>
            <a:ext cx="2743200" cy="2359152"/>
          </a:xfrm>
          <a:prstGeom prst="roundRect">
            <a:avLst>
              <a:gd name="adj" fmla="val 2326"/>
            </a:avLst>
          </a:prstGeom>
          <a:solidFill>
            <a:srgbClr val="151B23"/>
          </a:solidFill>
          <a:ln w="12700">
            <a:solidFill>
              <a:srgbClr val="2C38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0440" y="2971800"/>
            <a:ext cx="2743200" cy="384048"/>
          </a:xfrm>
          <a:prstGeom prst="rect">
            <a:avLst/>
          </a:prstGeom>
          <a:solidFill>
            <a:srgbClr val="9B5DE5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30168" y="3090672"/>
            <a:ext cx="2523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F6FA"/>
                </a:solidFill>
              </a:rPr>
              <a:t>Languages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21608" y="3602736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C8D1DC"/>
                </a:solidFill>
              </a:rPr>
              <a:t>• English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3721608" y="3950208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C8D1DC"/>
                </a:solidFill>
              </a:rPr>
              <a:t>• French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3721608" y="4297680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C8D1DC"/>
                </a:solidFill>
              </a:rPr>
              <a:t>• Arabic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3721608" y="4645152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C8D1DC"/>
                </a:solidFill>
              </a:rPr>
              <a:t>• Mandarin Chinese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3721608" y="4992624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C8D1DC"/>
                </a:solidFill>
              </a:rPr>
              <a:t>• Vietnamese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6382512" y="2971800"/>
            <a:ext cx="2743200" cy="2359152"/>
          </a:xfrm>
          <a:prstGeom prst="roundRect">
            <a:avLst>
              <a:gd name="adj" fmla="val 2326"/>
            </a:avLst>
          </a:prstGeom>
          <a:solidFill>
            <a:srgbClr val="151B23"/>
          </a:solidFill>
          <a:ln w="12700">
            <a:solidFill>
              <a:srgbClr val="2C384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82512" y="2971800"/>
            <a:ext cx="2743200" cy="384048"/>
          </a:xfrm>
          <a:prstGeom prst="rect">
            <a:avLst/>
          </a:prstGeom>
          <a:solidFill>
            <a:srgbClr val="FFB703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3090672"/>
            <a:ext cx="2523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F6FA"/>
                </a:solidFill>
              </a:rPr>
              <a:t>Games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83680" y="3602736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C8D1DC"/>
                </a:solidFill>
              </a:rPr>
              <a:t>• Prisoner’s Dilemma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6583680" y="3950208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C8D1DC"/>
                </a:solidFill>
              </a:rPr>
              <a:t>• conventional · mild · harsh</a:t>
            </a:r>
            <a:endParaRPr lang="en-US" sz="860" dirty="0"/>
          </a:p>
        </p:txBody>
      </p:sp>
      <p:sp>
        <p:nvSpPr>
          <p:cNvPr id="30" name="Text 28"/>
          <p:cNvSpPr/>
          <p:nvPr/>
        </p:nvSpPr>
        <p:spPr>
          <a:xfrm>
            <a:off x="6583680" y="4297680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C8D1DC"/>
                </a:solidFill>
              </a:rPr>
              <a:t>• Battle of the Sexes</a:t>
            </a:r>
            <a:endParaRPr lang="en-US" sz="860" dirty="0"/>
          </a:p>
        </p:txBody>
      </p:sp>
      <p:sp>
        <p:nvSpPr>
          <p:cNvPr id="31" name="Text 29"/>
          <p:cNvSpPr/>
          <p:nvPr/>
        </p:nvSpPr>
        <p:spPr>
          <a:xfrm>
            <a:off x="6583680" y="4645152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C8D1DC"/>
                </a:solidFill>
              </a:rPr>
              <a:t>• coordination game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9244584" y="2971800"/>
            <a:ext cx="2743200" cy="2359152"/>
          </a:xfrm>
          <a:prstGeom prst="roundRect">
            <a:avLst>
              <a:gd name="adj" fmla="val 2326"/>
            </a:avLst>
          </a:prstGeom>
          <a:solidFill>
            <a:srgbClr val="151B23"/>
          </a:solidFill>
          <a:ln w="12700">
            <a:solidFill>
              <a:srgbClr val="2C384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244584" y="2971800"/>
            <a:ext cx="2743200" cy="384048"/>
          </a:xfrm>
          <a:prstGeom prst="rect">
            <a:avLst/>
          </a:prstGeom>
          <a:solidFill>
            <a:srgbClr val="80ED99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54312" y="3090672"/>
            <a:ext cx="2523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F6FA"/>
                </a:solidFill>
              </a:rPr>
              <a:t>Agent Conditions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445752" y="3602736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C8D1DC"/>
                </a:solidFill>
              </a:rPr>
              <a:t>• cooperative personality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9445752" y="3950208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C8D1DC"/>
                </a:solidFill>
              </a:rPr>
              <a:t>• selfish personality</a:t>
            </a:r>
            <a:endParaRPr lang="en-US" sz="860" dirty="0"/>
          </a:p>
        </p:txBody>
      </p:sp>
      <p:sp>
        <p:nvSpPr>
          <p:cNvPr id="37" name="Text 35"/>
          <p:cNvSpPr/>
          <p:nvPr/>
        </p:nvSpPr>
        <p:spPr>
          <a:xfrm>
            <a:off x="9445752" y="4297680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C8D1DC"/>
                </a:solidFill>
              </a:rPr>
              <a:t>• mixed combinations</a:t>
            </a:r>
            <a:endParaRPr lang="en-US" sz="860" dirty="0"/>
          </a:p>
        </p:txBody>
      </p:sp>
      <p:sp>
        <p:nvSpPr>
          <p:cNvPr id="38" name="Text 36"/>
          <p:cNvSpPr/>
          <p:nvPr/>
        </p:nvSpPr>
        <p:spPr>
          <a:xfrm>
            <a:off x="9445752" y="4645152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C8D1DC"/>
                </a:solidFill>
              </a:rPr>
              <a:t>• known vs unknown rounds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5358384" y="1124712"/>
            <a:ext cx="6144768" cy="1435608"/>
          </a:xfrm>
          <a:prstGeom prst="roundRect">
            <a:avLst>
              <a:gd name="adj" fmla="val 5096"/>
            </a:avLst>
          </a:prstGeom>
          <a:solidFill>
            <a:srgbClr val="101822"/>
          </a:solidFill>
          <a:ln w="12700">
            <a:solidFill>
              <a:srgbClr val="2C384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50992" y="139903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6FA"/>
                </a:solidFill>
              </a:rPr>
              <a:t>Controlled repeated games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650992" y="1810512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C8D1DC"/>
                </a:solidFill>
              </a:rPr>
              <a:t>10 rounds per game · repeated configurations · no agent-to-agent communication in main experiments</a:t>
            </a:r>
            <a:endParaRPr lang="en-US" sz="930" dirty="0"/>
          </a:p>
        </p:txBody>
      </p:sp>
      <p:sp>
        <p:nvSpPr>
          <p:cNvPr id="42" name="Shape 40"/>
          <p:cNvSpPr/>
          <p:nvPr/>
        </p:nvSpPr>
        <p:spPr>
          <a:xfrm>
            <a:off x="5577840" y="2212848"/>
            <a:ext cx="5623560" cy="0"/>
          </a:xfrm>
          <a:prstGeom prst="line">
            <a:avLst/>
          </a:prstGeom>
          <a:solidFill>
            <a:srgbClr val="000000">
              <a:alpha val="0"/>
            </a:srgbClr>
          </a:solidFill>
          <a:ln w="12700">
            <a:solidFill>
              <a:srgbClr val="36D1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0624" y="6547104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657184"/>
                </a:solidFill>
              </a:rPr>
              <a:t>Buscemi et al. · FAIRGAME: AI Agents Bias Recognition using Game Theory</a:t>
            </a:r>
            <a:endParaRPr lang="en-US" sz="670" dirty="0"/>
          </a:p>
        </p:txBody>
      </p:sp>
      <p:sp>
        <p:nvSpPr>
          <p:cNvPr id="44" name="Text 42"/>
          <p:cNvSpPr/>
          <p:nvPr/>
        </p:nvSpPr>
        <p:spPr>
          <a:xfrm>
            <a:off x="10908792" y="651052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36D1DC"/>
                </a:solidFill>
              </a:rPr>
              <a:t>FAIRGAME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 w="12700">
            <a:solidFill>
              <a:srgbClr val="0E11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6D1D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 Strategy Changes with Language, Personality &amp; Incentives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73152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7B3"/>
                </a:solidFill>
              </a:rPr>
              <a:t>What FAIRGAME revealed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03504" y="1170432"/>
            <a:ext cx="3520440" cy="1225296"/>
          </a:xfrm>
          <a:prstGeom prst="roundRect">
            <a:avLst>
              <a:gd name="adj" fmla="val 5970"/>
            </a:avLst>
          </a:prstGeom>
          <a:solidFill>
            <a:srgbClr val="151B23"/>
          </a:solidFill>
          <a:ln w="12700">
            <a:solidFill>
              <a:srgbClr val="2C38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" y="1170432"/>
            <a:ext cx="45720" cy="1225296"/>
          </a:xfrm>
          <a:prstGeom prst="rect">
            <a:avLst/>
          </a:prstGeom>
          <a:solidFill>
            <a:srgbClr val="FFB70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307592"/>
            <a:ext cx="3227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6FA"/>
                </a:solidFill>
              </a:rPr>
              <a:t>1 · Prisoner’s Dilemma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8096" y="1627632"/>
            <a:ext cx="3227832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C8D1DC"/>
                </a:solidFill>
              </a:rPr>
              <a:t>• Broadly follows defection incentives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C8D1DC"/>
                </a:solidFill>
              </a:rPr>
              <a:t>• Inconsistencies across language, personality and payoff configuration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C8D1DC"/>
                </a:solidFill>
              </a:rPr>
              <a:t>• Known rounds can change behavior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603504" y="2724912"/>
            <a:ext cx="3520440" cy="1225296"/>
          </a:xfrm>
          <a:prstGeom prst="roundRect">
            <a:avLst>
              <a:gd name="adj" fmla="val 5970"/>
            </a:avLst>
          </a:prstGeom>
          <a:solidFill>
            <a:srgbClr val="151B23"/>
          </a:solidFill>
          <a:ln w="12700">
            <a:solidFill>
              <a:srgbClr val="2C38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504" y="2724912"/>
            <a:ext cx="45720" cy="1225296"/>
          </a:xfrm>
          <a:prstGeom prst="rect">
            <a:avLst/>
          </a:prstGeom>
          <a:solidFill>
            <a:srgbClr val="36D1D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2862072"/>
            <a:ext cx="3227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6FA"/>
                </a:solidFill>
              </a:rPr>
              <a:t>2 · Battle of the Sexes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8096" y="3182112"/>
            <a:ext cx="3227832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C8D1DC"/>
                </a:solidFill>
              </a:rPr>
              <a:t>• Coordination improves over repeated rounds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C8D1DC"/>
                </a:solidFill>
              </a:rPr>
              <a:t>• Claude 3.5 Sonnet approaches near-perfect coordination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C8D1DC"/>
                </a:solidFill>
              </a:rPr>
              <a:t>• Other models show different alignment and variability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603504" y="4279392"/>
            <a:ext cx="3520440" cy="1225296"/>
          </a:xfrm>
          <a:prstGeom prst="roundRect">
            <a:avLst>
              <a:gd name="adj" fmla="val 5970"/>
            </a:avLst>
          </a:prstGeom>
          <a:solidFill>
            <a:srgbClr val="151B23"/>
          </a:solidFill>
          <a:ln w="12700">
            <a:solidFill>
              <a:srgbClr val="2C38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" y="4279392"/>
            <a:ext cx="45720" cy="1225296"/>
          </a:xfrm>
          <a:prstGeom prst="rect">
            <a:avLst/>
          </a:prstGeom>
          <a:solidFill>
            <a:srgbClr val="9B5DE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4416552"/>
            <a:ext cx="3227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6FA"/>
                </a:solidFill>
              </a:rPr>
              <a:t>3 · Model behavior is not uniform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8096" y="4736592"/>
            <a:ext cx="3227832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C8D1DC"/>
                </a:solidFill>
              </a:rPr>
              <a:t>• Mistral Large: high variability / inconsistency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C8D1DC"/>
                </a:solidFill>
              </a:rPr>
              <a:t>• GPT-4o: high payoff sensitivity in PD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C8D1DC"/>
                </a:solidFill>
              </a:rPr>
              <a:t>• Llama 3.1 405B: comparatively stable overall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4590288" y="1143000"/>
            <a:ext cx="2944368" cy="4434840"/>
          </a:xfrm>
          <a:prstGeom prst="roundRect">
            <a:avLst>
              <a:gd name="adj" fmla="val 2484"/>
            </a:avLst>
          </a:prstGeom>
          <a:solidFill>
            <a:srgbClr val="151B23"/>
          </a:solidFill>
          <a:ln w="12700">
            <a:solidFill>
              <a:srgbClr val="2C38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9744" y="1389888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6FA"/>
                </a:solidFill>
              </a:rPr>
              <a:t>Simplified result patterns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1929384"/>
            <a:ext cx="804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C8D1DC"/>
                </a:solidFill>
              </a:rPr>
              <a:t>Claude 3.5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5760720" y="1947672"/>
            <a:ext cx="1353312" cy="164592"/>
          </a:xfrm>
          <a:prstGeom prst="rect">
            <a:avLst/>
          </a:prstGeom>
          <a:solidFill>
            <a:srgbClr val="2833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60720" y="1947672"/>
            <a:ext cx="1190915" cy="164592"/>
          </a:xfrm>
          <a:prstGeom prst="rect">
            <a:avLst/>
          </a:prstGeom>
          <a:solidFill>
            <a:srgbClr val="36D1D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2176272"/>
            <a:ext cx="1417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DA7B3"/>
                </a:solidFill>
              </a:rPr>
              <a:t>BoS coordination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846320" y="2642616"/>
            <a:ext cx="804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C8D1DC"/>
                </a:solidFill>
              </a:rPr>
              <a:t>Llama 3.1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5760720" y="2660904"/>
            <a:ext cx="1353312" cy="164592"/>
          </a:xfrm>
          <a:prstGeom prst="rect">
            <a:avLst/>
          </a:prstGeom>
          <a:solidFill>
            <a:srgbClr val="2833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60720" y="2660904"/>
            <a:ext cx="974385" cy="164592"/>
          </a:xfrm>
          <a:prstGeom prst="rect">
            <a:avLst/>
          </a:prstGeom>
          <a:solidFill>
            <a:srgbClr val="80ED9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2889504"/>
            <a:ext cx="1417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DA7B3"/>
                </a:solidFill>
              </a:rPr>
              <a:t>stable profile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846320" y="3355848"/>
            <a:ext cx="804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C8D1DC"/>
                </a:solidFill>
              </a:rPr>
              <a:t>GPT-4o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5760720" y="3374136"/>
            <a:ext cx="1353312" cy="164592"/>
          </a:xfrm>
          <a:prstGeom prst="rect">
            <a:avLst/>
          </a:prstGeom>
          <a:solidFill>
            <a:srgbClr val="2833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60720" y="3374136"/>
            <a:ext cx="839053" cy="164592"/>
          </a:xfrm>
          <a:prstGeom prst="rect">
            <a:avLst/>
          </a:prstGeom>
          <a:solidFill>
            <a:srgbClr val="FFB70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0" y="3602736"/>
            <a:ext cx="1417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DA7B3"/>
                </a:solidFill>
              </a:rPr>
              <a:t>payoff sensitive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4846320" y="4069080"/>
            <a:ext cx="804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C8D1DC"/>
                </a:solidFill>
              </a:rPr>
              <a:t>Mistral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5760720" y="4087368"/>
            <a:ext cx="1353312" cy="164592"/>
          </a:xfrm>
          <a:prstGeom prst="rect">
            <a:avLst/>
          </a:prstGeom>
          <a:solidFill>
            <a:srgbClr val="2833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0" y="4087368"/>
            <a:ext cx="730788" cy="164592"/>
          </a:xfrm>
          <a:prstGeom prst="rect">
            <a:avLst/>
          </a:prstGeom>
          <a:solidFill>
            <a:srgbClr val="9B5DE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0" y="4315968"/>
            <a:ext cx="1417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DA7B3"/>
                </a:solidFill>
              </a:rPr>
              <a:t>variable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4828032" y="5138928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9DA7B3"/>
                </a:solidFill>
              </a:rPr>
              <a:t>Qualitative summary from reported findings — not a numeric reproduction of the paper figures.</a:t>
            </a:r>
            <a:endParaRPr lang="en-US" sz="660" dirty="0"/>
          </a:p>
        </p:txBody>
      </p:sp>
      <p:sp>
        <p:nvSpPr>
          <p:cNvPr id="37" name="Shape 35"/>
          <p:cNvSpPr/>
          <p:nvPr/>
        </p:nvSpPr>
        <p:spPr>
          <a:xfrm>
            <a:off x="7909560" y="1143000"/>
            <a:ext cx="3584448" cy="4434840"/>
          </a:xfrm>
          <a:prstGeom prst="roundRect">
            <a:avLst>
              <a:gd name="adj" fmla="val 2041"/>
            </a:avLst>
          </a:prstGeom>
          <a:solidFill>
            <a:srgbClr val="151B23"/>
          </a:solidFill>
          <a:ln w="12700">
            <a:solidFill>
              <a:srgbClr val="2C384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11312" y="1389888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6FA"/>
                </a:solidFill>
              </a:rPr>
              <a:t>Scoring lens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198864" y="2743200"/>
            <a:ext cx="1005840" cy="100584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34425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878824" y="2423160"/>
            <a:ext cx="1645920" cy="164592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34425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558784" y="2103120"/>
            <a:ext cx="2286000" cy="228600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34425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701784" y="3246120"/>
            <a:ext cx="0" cy="-1143000"/>
          </a:xfrm>
          <a:prstGeom prst="line">
            <a:avLst/>
          </a:prstGeom>
          <a:solidFill>
            <a:srgbClr val="000000">
              <a:alpha val="0"/>
            </a:srgbClr>
          </a:solidFill>
          <a:ln w="12700">
            <a:solidFill>
              <a:srgbClr val="46566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564624" y="176479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DA7B3"/>
                </a:solidFill>
              </a:rPr>
              <a:t>IV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9701784" y="3246120"/>
            <a:ext cx="1143000" cy="0"/>
          </a:xfrm>
          <a:prstGeom prst="line">
            <a:avLst/>
          </a:prstGeom>
          <a:solidFill>
            <a:srgbClr val="000000">
              <a:alpha val="0"/>
            </a:srgbClr>
          </a:solidFill>
          <a:ln w="12700">
            <a:solidFill>
              <a:srgbClr val="46566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981944" y="318211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DA7B3"/>
                </a:solidFill>
              </a:rPr>
              <a:t>CI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9701784" y="3246120"/>
            <a:ext cx="0" cy="1143000"/>
          </a:xfrm>
          <a:prstGeom prst="line">
            <a:avLst/>
          </a:prstGeom>
          <a:solidFill>
            <a:srgbClr val="000000">
              <a:alpha val="0"/>
            </a:srgbClr>
          </a:solidFill>
          <a:ln w="12700">
            <a:solidFill>
              <a:srgbClr val="46566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564624" y="459943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DA7B3"/>
                </a:solidFill>
              </a:rPr>
              <a:t>VR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9701784" y="3246120"/>
            <a:ext cx="-1143000" cy="0"/>
          </a:xfrm>
          <a:prstGeom prst="line">
            <a:avLst/>
          </a:prstGeom>
          <a:solidFill>
            <a:srgbClr val="000000">
              <a:alpha val="0"/>
            </a:srgbClr>
          </a:solidFill>
          <a:ln w="12700">
            <a:solidFill>
              <a:srgbClr val="46566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47304" y="318211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DA7B3"/>
                </a:solidFill>
              </a:rPr>
              <a:t>SP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9597085" y="2334463"/>
            <a:ext cx="31090" cy="31090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490911" y="3141421"/>
            <a:ext cx="31090" cy="31090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597085" y="3962095"/>
            <a:ext cx="31090" cy="31090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174175" y="3141421"/>
            <a:ext cx="31090" cy="31090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47888" y="5047488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B5DE5"/>
                </a:solidFill>
              </a:rPr>
              <a:t>Mistral</a:t>
            </a:r>
            <a:endParaRPr lang="en-US" sz="720" dirty="0"/>
          </a:p>
        </p:txBody>
      </p:sp>
      <p:sp>
        <p:nvSpPr>
          <p:cNvPr id="55" name="Shape 53"/>
          <p:cNvSpPr/>
          <p:nvPr/>
        </p:nvSpPr>
        <p:spPr>
          <a:xfrm>
            <a:off x="9656521" y="2590495"/>
            <a:ext cx="31090" cy="3109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289743" y="3200857"/>
            <a:ext cx="31090" cy="3109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656521" y="3724351"/>
            <a:ext cx="31090" cy="3109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735263" y="3200857"/>
            <a:ext cx="31090" cy="3109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729216" y="5047488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B703"/>
                </a:solidFill>
              </a:rPr>
              <a:t>GPT-4o</a:t>
            </a:r>
            <a:endParaRPr lang="en-US" sz="720" dirty="0"/>
          </a:p>
        </p:txBody>
      </p:sp>
      <p:sp>
        <p:nvSpPr>
          <p:cNvPr id="60" name="Shape 58"/>
          <p:cNvSpPr/>
          <p:nvPr/>
        </p:nvSpPr>
        <p:spPr>
          <a:xfrm>
            <a:off x="9715957" y="2828239"/>
            <a:ext cx="31090" cy="31090"/>
          </a:xfrm>
          <a:prstGeom prst="ellipse">
            <a:avLst/>
          </a:prstGeom>
          <a:solidFill>
            <a:srgbClr val="80ED99"/>
          </a:solidFill>
          <a:ln w="12700">
            <a:solidFill>
              <a:srgbClr val="80ED9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997135" y="3260293"/>
            <a:ext cx="31090" cy="31090"/>
          </a:xfrm>
          <a:prstGeom prst="ellipse">
            <a:avLst/>
          </a:prstGeom>
          <a:solidFill>
            <a:srgbClr val="80ED99"/>
          </a:solidFill>
          <a:ln w="12700">
            <a:solidFill>
              <a:srgbClr val="80ED9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715957" y="3578047"/>
            <a:ext cx="31090" cy="31090"/>
          </a:xfrm>
          <a:prstGeom prst="ellipse">
            <a:avLst/>
          </a:prstGeom>
          <a:solidFill>
            <a:srgbClr val="80ED99"/>
          </a:solidFill>
          <a:ln w="12700">
            <a:solidFill>
              <a:srgbClr val="80ED9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302191" y="3260293"/>
            <a:ext cx="31090" cy="31090"/>
          </a:xfrm>
          <a:prstGeom prst="ellipse">
            <a:avLst/>
          </a:prstGeom>
          <a:solidFill>
            <a:srgbClr val="80ED99"/>
          </a:solidFill>
          <a:ln w="12700">
            <a:solidFill>
              <a:srgbClr val="80ED9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247888" y="5285232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0ED99"/>
                </a:solidFill>
              </a:rPr>
              <a:t>Llama</a:t>
            </a:r>
            <a:endParaRPr lang="en-US" sz="720" dirty="0"/>
          </a:p>
        </p:txBody>
      </p:sp>
      <p:sp>
        <p:nvSpPr>
          <p:cNvPr id="65" name="Shape 63"/>
          <p:cNvSpPr/>
          <p:nvPr/>
        </p:nvSpPr>
        <p:spPr>
          <a:xfrm>
            <a:off x="9775393" y="2883103"/>
            <a:ext cx="31090" cy="31090"/>
          </a:xfrm>
          <a:prstGeom prst="ellipse">
            <a:avLst/>
          </a:prstGeom>
          <a:solidFill>
            <a:srgbClr val="36D1DC"/>
          </a:solidFill>
          <a:ln w="12700">
            <a:solidFill>
              <a:srgbClr val="36D1D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125151" y="3319729"/>
            <a:ext cx="31090" cy="31090"/>
          </a:xfrm>
          <a:prstGeom prst="ellipse">
            <a:avLst/>
          </a:prstGeom>
          <a:solidFill>
            <a:srgbClr val="36D1DC"/>
          </a:solidFill>
          <a:ln w="12700">
            <a:solidFill>
              <a:srgbClr val="36D1D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775393" y="4099255"/>
            <a:ext cx="31090" cy="31090"/>
          </a:xfrm>
          <a:prstGeom prst="ellipse">
            <a:avLst/>
          </a:prstGeom>
          <a:solidFill>
            <a:srgbClr val="36D1DC"/>
          </a:solidFill>
          <a:ln w="12700">
            <a:solidFill>
              <a:srgbClr val="36D1D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274759" y="3319729"/>
            <a:ext cx="31090" cy="31090"/>
          </a:xfrm>
          <a:prstGeom prst="ellipse">
            <a:avLst/>
          </a:prstGeom>
          <a:solidFill>
            <a:srgbClr val="36D1DC"/>
          </a:solidFill>
          <a:ln w="12700">
            <a:solidFill>
              <a:srgbClr val="36D1D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729216" y="5285232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6D1DC"/>
                </a:solidFill>
              </a:rPr>
              <a:t>Claude</a:t>
            </a:r>
            <a:endParaRPr lang="en-US" sz="720" dirty="0"/>
          </a:p>
        </p:txBody>
      </p:sp>
      <p:sp>
        <p:nvSpPr>
          <p:cNvPr id="70" name="Text 68"/>
          <p:cNvSpPr/>
          <p:nvPr/>
        </p:nvSpPr>
        <p:spPr>
          <a:xfrm>
            <a:off x="8211312" y="5724144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D1DC"/>
                </a:solidFill>
              </a:rPr>
              <a:t>IV · CI · SP · VR reveal why “best model” depends on the strategic condition.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420624" y="6547104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657184"/>
                </a:solidFill>
              </a:rPr>
              <a:t>Buscemi et al. · FAIRGAME: AI Agents Bias Recognition using Game Theory</a:t>
            </a:r>
            <a:endParaRPr lang="en-US" sz="670" dirty="0"/>
          </a:p>
        </p:txBody>
      </p:sp>
      <p:sp>
        <p:nvSpPr>
          <p:cNvPr id="72" name="Text 70"/>
          <p:cNvSpPr/>
          <p:nvPr/>
        </p:nvSpPr>
        <p:spPr>
          <a:xfrm>
            <a:off x="10908792" y="651052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36D1DC"/>
                </a:solidFill>
              </a:rPr>
              <a:t>FAIRGAME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 w="12700">
            <a:solidFill>
              <a:srgbClr val="0E11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6D1D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Game Theory to Safer Multi-Agent AI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73152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7B3"/>
                </a:solidFill>
              </a:rPr>
              <a:t>Why FAIRGAME matters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868680" y="1234440"/>
            <a:ext cx="1993392" cy="1051560"/>
          </a:xfrm>
          <a:prstGeom prst="hexagon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" y="15727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6FA"/>
                </a:solidFill>
              </a:rPr>
              <a:t>Controlled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3F6FA"/>
                </a:solidFill>
              </a:rPr>
              <a:t>Games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25496" y="1755648"/>
            <a:ext cx="676656" cy="0"/>
          </a:xfrm>
          <a:prstGeom prst="line">
            <a:avLst/>
          </a:prstGeom>
          <a:solidFill>
            <a:srgbClr val="000000">
              <a:alpha val="0"/>
            </a:srgbClr>
          </a:solidFill>
          <a:ln w="12700">
            <a:solidFill>
              <a:srgbClr val="9DA7B3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703320" y="1234440"/>
            <a:ext cx="1993392" cy="1051560"/>
          </a:xfrm>
          <a:prstGeom prst="hexagon">
            <a:avLst/>
          </a:prstGeom>
          <a:solidFill>
            <a:srgbClr val="36D1DC">
              <a:alpha val="20000"/>
            </a:srgbClr>
          </a:solidFill>
          <a:ln w="12700">
            <a:solidFill>
              <a:srgbClr val="36D1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22776" y="15727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6FA"/>
                </a:solidFill>
              </a:rPr>
              <a:t>Observable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3F6FA"/>
                </a:solidFill>
              </a:rPr>
              <a:t>Behavior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0136" y="1755648"/>
            <a:ext cx="676656" cy="0"/>
          </a:xfrm>
          <a:prstGeom prst="line">
            <a:avLst/>
          </a:prstGeom>
          <a:solidFill>
            <a:srgbClr val="000000">
              <a:alpha val="0"/>
            </a:srgbClr>
          </a:solidFill>
          <a:ln w="12700">
            <a:solidFill>
              <a:srgbClr val="9DA7B3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537960" y="1234440"/>
            <a:ext cx="1993392" cy="1051560"/>
          </a:xfrm>
          <a:prstGeom prst="hexagon">
            <a:avLst/>
          </a:prstGeom>
          <a:solidFill>
            <a:srgbClr val="9B5DE5">
              <a:alpha val="20000"/>
            </a:srgbClr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57416" y="15727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6FA"/>
                </a:solidFill>
              </a:rPr>
              <a:t>Bias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3F6FA"/>
                </a:solidFill>
              </a:rPr>
              <a:t>Detection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494776" y="1755648"/>
            <a:ext cx="676656" cy="0"/>
          </a:xfrm>
          <a:prstGeom prst="line">
            <a:avLst/>
          </a:prstGeom>
          <a:solidFill>
            <a:srgbClr val="000000">
              <a:alpha val="0"/>
            </a:srgbClr>
          </a:solidFill>
          <a:ln w="12700">
            <a:solidFill>
              <a:srgbClr val="9DA7B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372600" y="1234440"/>
            <a:ext cx="1993392" cy="1051560"/>
          </a:xfrm>
          <a:prstGeom prst="hexagon">
            <a:avLst/>
          </a:prstGeom>
          <a:solidFill>
            <a:srgbClr val="80ED99">
              <a:alpha val="20000"/>
            </a:srgbClr>
          </a:solidFill>
          <a:ln w="12700">
            <a:solidFill>
              <a:srgbClr val="80ED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92056" y="15727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6FA"/>
                </a:solidFill>
              </a:rPr>
              <a:t>Trustworthy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3F6FA"/>
                </a:solidFill>
              </a:rPr>
              <a:t>Agentic AI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13232" y="2852928"/>
            <a:ext cx="5047488" cy="530352"/>
          </a:xfrm>
          <a:prstGeom prst="roundRect">
            <a:avLst>
              <a:gd name="adj" fmla="val 10345"/>
            </a:avLst>
          </a:prstGeom>
          <a:solidFill>
            <a:srgbClr val="151B23"/>
          </a:solidFill>
          <a:ln w="12700">
            <a:solidFill>
              <a:srgbClr val="36D1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008376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6D1DC"/>
                </a:solidFill>
              </a:rPr>
              <a:t>Reproducibility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2404872" y="300837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C8D1DC"/>
                </a:solidFill>
              </a:rPr>
              <a:t>standardized strategic LLM experiments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6245352" y="2852928"/>
            <a:ext cx="5047488" cy="530352"/>
          </a:xfrm>
          <a:prstGeom prst="roundRect">
            <a:avLst>
              <a:gd name="adj" fmla="val 10345"/>
            </a:avLst>
          </a:prstGeom>
          <a:solidFill>
            <a:srgbClr val="151B23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8232" y="3008376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9B5DE5"/>
                </a:solidFill>
              </a:rPr>
              <a:t>Bias Discovery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7936992" y="300837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C8D1DC"/>
                </a:solidFill>
              </a:rPr>
              <a:t>language · personality · incentives · context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713232" y="3602736"/>
            <a:ext cx="5047488" cy="530352"/>
          </a:xfrm>
          <a:prstGeom prst="roundRect">
            <a:avLst>
              <a:gd name="adj" fmla="val 10345"/>
            </a:avLst>
          </a:prstGeom>
          <a:solidFill>
            <a:srgbClr val="151B2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375818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B703"/>
                </a:solidFill>
              </a:rPr>
              <a:t>Interpretability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2404872" y="375818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C8D1DC"/>
                </a:solidFill>
              </a:rPr>
              <a:t>empirical behavior vs formal predictions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245352" y="3602736"/>
            <a:ext cx="5047488" cy="530352"/>
          </a:xfrm>
          <a:prstGeom prst="roundRect">
            <a:avLst>
              <a:gd name="adj" fmla="val 10345"/>
            </a:avLst>
          </a:prstGeom>
          <a:solidFill>
            <a:srgbClr val="151B23"/>
          </a:solidFill>
          <a:ln w="12700">
            <a:solidFill>
              <a:srgbClr val="80ED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28232" y="375818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80ED99"/>
                </a:solidFill>
              </a:rPr>
              <a:t>Model Selection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7936992" y="375818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C8D1DC"/>
                </a:solidFill>
              </a:rPr>
              <a:t>stable, variable or sensitive under interaction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749808" y="4544568"/>
            <a:ext cx="5248656" cy="658368"/>
          </a:xfrm>
          <a:prstGeom prst="roundRect">
            <a:avLst>
              <a:gd name="adj" fmla="val 11111"/>
            </a:avLst>
          </a:prstGeom>
          <a:solidFill>
            <a:srgbClr val="132331"/>
          </a:solidFill>
          <a:ln w="12700">
            <a:solidFill>
              <a:srgbClr val="36D1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7552" y="4764024"/>
            <a:ext cx="4773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6FA"/>
                </a:solidFill>
              </a:rPr>
              <a:t>Key insight: LLMs may rely on prior knowledge of games and identities—not only the explicit payoff matrix.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28232" y="4425696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161A23"/>
          </a:solidFill>
          <a:ln w="12700">
            <a:solidFill>
              <a:srgbClr val="2C38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56832" y="4608576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703"/>
                </a:solidFill>
              </a:rPr>
              <a:t>Future work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656832" y="4928616"/>
            <a:ext cx="4517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8D1DC"/>
                </a:solidFill>
              </a:rPr>
              <a:t>broader bias dimensions  ·  agent-to-agent communication  ·  more than two agents / coalition formation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1261872" y="5760720"/>
            <a:ext cx="9674352" cy="457200"/>
          </a:xfrm>
          <a:prstGeom prst="roundRect">
            <a:avLst>
              <a:gd name="adj" fmla="val 16000"/>
            </a:avLst>
          </a:prstGeom>
          <a:solidFill>
            <a:srgbClr val="0E2631"/>
          </a:solidFill>
          <a:ln w="12700">
            <a:solidFill>
              <a:srgbClr val="36D1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36192" y="5897880"/>
            <a:ext cx="91257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3F6FA"/>
                </a:solidFill>
              </a:rPr>
              <a:t>FAIRGAME turns strategic interaction into a measurable testbed for understanding bias and emergent behavior in autonomous AI agents.</a:t>
            </a:r>
            <a:endParaRPr lang="en-US" sz="1140" dirty="0"/>
          </a:p>
        </p:txBody>
      </p:sp>
      <p:sp>
        <p:nvSpPr>
          <p:cNvPr id="36" name="Text 34"/>
          <p:cNvSpPr/>
          <p:nvPr/>
        </p:nvSpPr>
        <p:spPr>
          <a:xfrm>
            <a:off x="420624" y="6547104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657184"/>
                </a:solidFill>
              </a:rPr>
              <a:t>Buscemi et al. · FAIRGAME: AI Agents Bias Recognition using Game Theory</a:t>
            </a:r>
            <a:endParaRPr lang="en-US" sz="670" dirty="0"/>
          </a:p>
        </p:txBody>
      </p:sp>
      <p:sp>
        <p:nvSpPr>
          <p:cNvPr id="37" name="Text 35"/>
          <p:cNvSpPr/>
          <p:nvPr/>
        </p:nvSpPr>
        <p:spPr>
          <a:xfrm>
            <a:off x="10908792" y="651052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36D1DC"/>
                </a:solidFill>
              </a:rPr>
              <a:t>FAIRGAME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FAIRGAME: A Framework for AI Agents Bias Recognition using Game Theory</dc:title>
  <dc:subject>FAIRGAME academic presentation</dc:subject>
  <dc:creator>OpenAI</dc:creator>
  <cp:lastModifiedBy>OpenAI</cp:lastModifiedBy>
  <cp:revision>1</cp:revision>
  <dcterms:created xsi:type="dcterms:W3CDTF">2026-10-05T15:42:53Z</dcterms:created>
  <dcterms:modified xsi:type="dcterms:W3CDTF">2026-10-05T15:42:53Z</dcterms:modified>
</cp:coreProperties>
</file>