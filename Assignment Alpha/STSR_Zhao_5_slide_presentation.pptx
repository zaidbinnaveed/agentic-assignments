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E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et al., Frontiers in Neuroscience, 2023 — doi:10.3389/fnins.2023.1201370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0C8B8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 of Heterogeneous Multi-Agent Learning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2064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8C2"/>
                </a:solidFill>
              </a:rPr>
              <a:t>Sharing knowledge without suppressing specialization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444752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17262D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17904"/>
            <a:ext cx="28254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Sharing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99432" y="1444752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0F3A38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517904"/>
            <a:ext cx="28254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STSR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03920" y="1444752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242026"/>
          </a:solidFill>
          <a:ln w="15240">
            <a:solidFill>
              <a:srgbClr val="6F5F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517904"/>
            <a:ext cx="28254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Policies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746504"/>
            <a:ext cx="685800" cy="0"/>
          </a:xfrm>
          <a:prstGeom prst="line">
            <a:avLst/>
          </a:prstGeom>
          <a:noFill/>
          <a:ln w="20320">
            <a:solidFill>
              <a:srgbClr val="34434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62672" y="1746504"/>
            <a:ext cx="676656" cy="0"/>
          </a:xfrm>
          <a:prstGeom prst="line">
            <a:avLst/>
          </a:prstGeom>
          <a:noFill/>
          <a:ln w="20320">
            <a:solidFill>
              <a:srgbClr val="3443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" y="23774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202B33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450592"/>
            <a:ext cx="2505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experience use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fast convergence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41248" y="32461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02025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19272"/>
            <a:ext cx="2505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D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homogenize behavior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FFD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roles differ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33936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450592"/>
            <a:ext cx="2505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FF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lower knowledge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CFF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type-specific behavior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32C2B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319272"/>
            <a:ext cx="2505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FF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middle path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CFF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heterogeneous agents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659368" y="23774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202B33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2450592"/>
            <a:ext cx="2505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specialization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agent/type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659368" y="32461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02025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3319272"/>
            <a:ext cx="25054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D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knowledge sharing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FFD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slower learning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353312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47088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93976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40864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87752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4517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policy shape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285232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4334256"/>
            <a:ext cx="137160" cy="137160"/>
          </a:xfrm>
          <a:prstGeom prst="ellipse">
            <a:avLst/>
          </a:prstGeom>
          <a:solidFill>
            <a:srgbClr val="F3B562"/>
          </a:solidFill>
          <a:ln w="12700">
            <a:solidFill>
              <a:srgbClr val="F3B562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79008" y="4334256"/>
            <a:ext cx="137160" cy="137160"/>
          </a:xfrm>
          <a:prstGeom prst="ellipse">
            <a:avLst/>
          </a:prstGeom>
          <a:solidFill>
            <a:srgbClr val="87AFFF"/>
          </a:solidFill>
          <a:ln w="12700">
            <a:solidFill>
              <a:srgbClr val="87A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25896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72784" y="4334256"/>
            <a:ext cx="137160" cy="137160"/>
          </a:xfrm>
          <a:prstGeom prst="ellipse">
            <a:avLst/>
          </a:prstGeom>
          <a:solidFill>
            <a:srgbClr val="F3B562"/>
          </a:solidFill>
          <a:ln w="12700">
            <a:solidFill>
              <a:srgbClr val="F3B56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9672" y="4334256"/>
            <a:ext cx="137160" cy="137160"/>
          </a:xfrm>
          <a:prstGeom prst="ellipse">
            <a:avLst/>
          </a:prstGeom>
          <a:solidFill>
            <a:srgbClr val="87AFFF"/>
          </a:solidFill>
          <a:ln w="12700">
            <a:solidFill>
              <a:srgbClr val="87A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4517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+ typed branches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9180576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27464" y="4334256"/>
            <a:ext cx="137160" cy="137160"/>
          </a:xfrm>
          <a:prstGeom prst="ellipse">
            <a:avLst/>
          </a:prstGeom>
          <a:solidFill>
            <a:srgbClr val="F3B562"/>
          </a:solidFill>
          <a:ln w="12700">
            <a:solidFill>
              <a:srgbClr val="F3B562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74352" y="4334256"/>
            <a:ext cx="137160" cy="137160"/>
          </a:xfrm>
          <a:prstGeom prst="ellipse">
            <a:avLst/>
          </a:prstGeom>
          <a:solidFill>
            <a:srgbClr val="87AFFF"/>
          </a:solidFill>
          <a:ln w="12700">
            <a:solidFill>
              <a:srgbClr val="87A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21240" y="4334256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68128" y="4334256"/>
            <a:ext cx="137160" cy="137160"/>
          </a:xfrm>
          <a:prstGeom prst="ellipse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15016" y="4334256"/>
            <a:ext cx="137160" cy="137160"/>
          </a:xfrm>
          <a:prstGeom prst="ellipse">
            <a:avLst/>
          </a:prstGeom>
          <a:solidFill>
            <a:srgbClr val="F3B562"/>
          </a:solidFill>
          <a:ln w="12700">
            <a:solidFill>
              <a:srgbClr val="F3B562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61904" y="4334256"/>
            <a:ext cx="137160" cy="137160"/>
          </a:xfrm>
          <a:prstGeom prst="ellipse">
            <a:avLst/>
          </a:prstGeom>
          <a:solidFill>
            <a:srgbClr val="87AFFF"/>
          </a:solidFill>
          <a:ln w="12700">
            <a:solidFill>
              <a:srgbClr val="87A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0576" y="45171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policies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1051560" y="5321808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0F282B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549554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heterogeneous agents share useful knowledge while still learning specialized behaviors?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E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et al., Frontiers in Neuroscience, 2023 — doi:10.3389/fnins.2023.1201370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0C8B8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STSR: Semi-Independent Policies + Shared Representation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2064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8C2"/>
                </a:solidFill>
              </a:rPr>
              <a:t>Three components: common representation, semi-independent policy training, intrinsic/diversity rewards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24128"/>
            <a:ext cx="187452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2770632"/>
            <a:ext cx="1161288" cy="0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98848" y="2770632"/>
            <a:ext cx="1152144" cy="0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2770632"/>
            <a:ext cx="1143000" cy="0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64040" y="2770632"/>
            <a:ext cx="758952" cy="0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" y="2331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202B33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04872"/>
            <a:ext cx="163677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heterogeneous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observations / 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27248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D3533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404872"/>
            <a:ext cx="1453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8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50992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42A32"/>
          </a:solidFill>
          <a:ln w="15240">
            <a:solidFill>
              <a:srgbClr val="87A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4144" y="2404872"/>
            <a:ext cx="1453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layers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322A18"/>
          </a:solidFill>
          <a:ln w="15240">
            <a:solidFill>
              <a:srgbClr val="F3B5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2404872"/>
            <a:ext cx="1453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Type-specific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2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branches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22992" y="2331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202B33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96144" y="2404872"/>
            <a:ext cx="10881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3246120"/>
            <a:ext cx="0" cy="576072"/>
          </a:xfrm>
          <a:prstGeom prst="line">
            <a:avLst/>
          </a:prstGeom>
          <a:noFill/>
          <a:ln w="20320">
            <a:solidFill>
              <a:srgbClr val="F3B56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73568" y="370332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221E16"/>
          </a:solidFill>
          <a:ln w="15240">
            <a:solidFill>
              <a:srgbClr val="6F5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776472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E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A policy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961120" y="3246120"/>
            <a:ext cx="0" cy="1078992"/>
          </a:xfrm>
          <a:prstGeom prst="line">
            <a:avLst/>
          </a:prstGeom>
          <a:noFill/>
          <a:ln w="20320">
            <a:solidFill>
              <a:srgbClr val="F3B56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73568" y="420624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221E16"/>
          </a:solidFill>
          <a:ln w="15240">
            <a:solidFill>
              <a:srgbClr val="6F5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279392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E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B policy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961120" y="3246120"/>
            <a:ext cx="0" cy="1581912"/>
          </a:xfrm>
          <a:prstGeom prst="line">
            <a:avLst/>
          </a:prstGeom>
          <a:noFill/>
          <a:ln w="20320">
            <a:solidFill>
              <a:srgbClr val="F3B56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73568" y="470916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221E16"/>
          </a:solidFill>
          <a:ln w="15240">
            <a:solidFill>
              <a:srgbClr val="6F5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4782312"/>
            <a:ext cx="1819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E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 policy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611880" y="4041648"/>
            <a:ext cx="4206240" cy="1051560"/>
          </a:xfrm>
          <a:prstGeom prst="arc">
            <a:avLst/>
          </a:prstGeom>
          <a:noFill/>
          <a:ln w="1778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26280" y="4617720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0F282B"/>
          </a:solidFill>
          <a:ln w="12700">
            <a:solidFill>
              <a:srgbClr val="20C8B8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intrinsic / diversity reward feedback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523036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82027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5303520"/>
            <a:ext cx="3236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Common observation–action representation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model / supervised learning maps heterogeneous inputs &amp; outputs into latent space.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434840" y="523036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82027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5303520"/>
            <a:ext cx="3236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Semi-independent policy training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type fully shares parameters; different types share lower-level knowledge.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092440" y="523036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82027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5303520"/>
            <a:ext cx="3236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Intrinsic / diversity-driven rewards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exploration and distinguish representations across agent types.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E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et al., Frontiers in Neuroscience, 2023 — doi:10.3389/fnins.2023.1201370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0C8B8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Design: Testing Heterogeneous Cooperation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2064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8C2"/>
                </a:solidFill>
              </a:rPr>
              <a:t>SMAC benchmark, 14 scenarios, multiple difficulty levels and agent-type structures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24128"/>
            <a:ext cx="173736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GRID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123330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50876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2s3z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58952" y="174650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EE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· Het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123330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50876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3s5z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523744" y="174650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EE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· Het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215384" y="141732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123330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150876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1c3s5z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288536" y="174650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EE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· Het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685800" y="224028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202B33"/>
          </a:solidFill>
          <a:ln w="12700">
            <a:solidFill>
              <a:srgbClr val="344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33172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 vs 6m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58952" y="256946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· Hom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450592" y="224028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202B33"/>
          </a:solidFill>
          <a:ln w="12700">
            <a:solidFill>
              <a:srgbClr val="344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233172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3s vs 5z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523744" y="256946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· Hom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215384" y="224028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123330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8536" y="233172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Bane vs bane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288536" y="256946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EE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· Het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85800" y="306324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123330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15468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3s5z vs 3s6z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58952" y="339242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EE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Super-hard · Het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450592" y="306324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123330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315468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MMM2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523744" y="339242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EE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Super-hard · Het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215384" y="3063240"/>
            <a:ext cx="1600200" cy="603504"/>
          </a:xfrm>
          <a:prstGeom prst="roundRect">
            <a:avLst>
              <a:gd name="adj" fmla="val 7576"/>
            </a:avLst>
          </a:prstGeom>
          <a:solidFill>
            <a:srgbClr val="202B33"/>
          </a:solidFill>
          <a:ln w="12700">
            <a:solidFill>
              <a:srgbClr val="344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88536" y="3154680"/>
            <a:ext cx="1453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27m vs 30m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288536" y="339242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Super-hard · Hom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6537960" y="1024128"/>
            <a:ext cx="205740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0789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PIPELINE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882128" y="1920240"/>
            <a:ext cx="0" cy="566928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882128" y="3090672"/>
            <a:ext cx="0" cy="566928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882128" y="4261104"/>
            <a:ext cx="0" cy="521208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629400" y="1481328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202B33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02552" y="1554480"/>
            <a:ext cx="2368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SMAC scenarios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maps across easy / hard / super-hard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263640" y="251460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182027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2587752"/>
            <a:ext cx="3099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Value-based baselines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VDN · QMIX · QPLEX · ROMA · RODE · CDS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6629400" y="3675888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82027"/>
          </a:solidFill>
          <a:ln w="15240">
            <a:solidFill>
              <a:srgbClr val="344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02552" y="3749040"/>
            <a:ext cx="23682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experiments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random seeds; median performance reported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263640" y="480060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0F282B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4873752"/>
            <a:ext cx="3099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study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· sharing · exploration · diversity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841248" y="5010912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322A18"/>
          </a:solidFill>
          <a:ln w="13970">
            <a:solidFill>
              <a:srgbClr val="F3B56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5166360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MMM2 is a key heterogeneous test: Marines + Marauders + Medivac, where Medivac heals instead of attacking.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E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et al., Frontiers in Neuroscience, 2023 — doi:10.3389/fnins.2023.1201370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0C8B8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Strongest Gains in Heterogeneous Settings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2064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8C2"/>
                </a:solidFill>
              </a:rPr>
              <a:t>The main advantage appears when teams contain genuinely different agent types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24128"/>
            <a:ext cx="260604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PERFORMANCE SUMMARY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481328"/>
            <a:ext cx="2057400" cy="2057400"/>
          </a:xfrm>
          <a:prstGeom prst="roundRect">
            <a:avLst>
              <a:gd name="adj" fmla="val 3111"/>
            </a:avLst>
          </a:prstGeom>
          <a:solidFill>
            <a:srgbClr val="182027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7007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3s5z vs. 3s6z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16152" y="2167128"/>
            <a:ext cx="1161288" cy="438912"/>
          </a:xfrm>
          <a:prstGeom prst="roundRect">
            <a:avLst>
              <a:gd name="adj" fmla="val 16667"/>
            </a:avLst>
          </a:prstGeom>
          <a:solidFill>
            <a:srgbClr val="0D3A36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286000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16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gains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246120" y="1481328"/>
            <a:ext cx="2057400" cy="2057400"/>
          </a:xfrm>
          <a:prstGeom prst="roundRect">
            <a:avLst>
              <a:gd name="adj" fmla="val 3111"/>
            </a:avLst>
          </a:prstGeom>
          <a:solidFill>
            <a:srgbClr val="182027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7007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MMM2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85032" y="2167128"/>
            <a:ext cx="1161288" cy="438912"/>
          </a:xfrm>
          <a:prstGeom prst="roundRect">
            <a:avLst>
              <a:gd name="adj" fmla="val 16667"/>
            </a:avLst>
          </a:prstGeom>
          <a:solidFill>
            <a:srgbClr val="0D3A36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2286000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816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gains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715000" y="1481328"/>
            <a:ext cx="2057400" cy="2057400"/>
          </a:xfrm>
          <a:prstGeom prst="roundRect">
            <a:avLst>
              <a:gd name="adj" fmla="val 3111"/>
            </a:avLst>
          </a:prstGeom>
          <a:solidFill>
            <a:srgbClr val="182027"/>
          </a:solidFill>
          <a:ln w="15240">
            <a:solidFill>
              <a:srgbClr val="F3B5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17007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3s5z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53912" y="2167128"/>
            <a:ext cx="1161288" cy="438912"/>
          </a:xfrm>
          <a:prstGeom prst="roundRect">
            <a:avLst>
              <a:gd name="adj" fmla="val 16667"/>
            </a:avLst>
          </a:prstGeom>
          <a:solidFill>
            <a:srgbClr val="2E2A1A"/>
          </a:solidFill>
          <a:ln w="12700">
            <a:solidFill>
              <a:srgbClr val="F3B5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2286000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9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2816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shown comparison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second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183880" y="1481328"/>
            <a:ext cx="2057400" cy="2057400"/>
          </a:xfrm>
          <a:prstGeom prst="roundRect">
            <a:avLst>
              <a:gd name="adj" fmla="val 3111"/>
            </a:avLst>
          </a:prstGeom>
          <a:solidFill>
            <a:srgbClr val="182027"/>
          </a:solidFill>
          <a:ln w="15240">
            <a:solidFill>
              <a:srgbClr val="F3B5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17007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27m vs. 30m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22792" y="2167128"/>
            <a:ext cx="1161288" cy="438912"/>
          </a:xfrm>
          <a:prstGeom prst="roundRect">
            <a:avLst>
              <a:gd name="adj" fmla="val 16667"/>
            </a:avLst>
          </a:prstGeom>
          <a:solidFill>
            <a:srgbClr val="2E2A1A"/>
          </a:solidFill>
          <a:ln w="12700">
            <a:solidFill>
              <a:srgbClr val="F3B5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2286000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9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2816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shown comparison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second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115568" y="4096512"/>
            <a:ext cx="9052560" cy="0"/>
          </a:xfrm>
          <a:prstGeom prst="line">
            <a:avLst/>
          </a:prstGeom>
          <a:noFill/>
          <a:ln w="15240">
            <a:solidFill>
              <a:srgbClr val="344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" y="4005072"/>
            <a:ext cx="0" cy="182880"/>
          </a:xfrm>
          <a:prstGeom prst="line">
            <a:avLst/>
          </a:prstGeom>
          <a:noFill/>
          <a:ln w="12700">
            <a:solidFill>
              <a:srgbClr val="3443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4005072"/>
            <a:ext cx="0" cy="182880"/>
          </a:xfrm>
          <a:prstGeom prst="line">
            <a:avLst/>
          </a:prstGeom>
          <a:noFill/>
          <a:ln w="12700">
            <a:solidFill>
              <a:srgbClr val="3443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96128" y="4005072"/>
            <a:ext cx="0" cy="182880"/>
          </a:xfrm>
          <a:prstGeom prst="line">
            <a:avLst/>
          </a:prstGeom>
          <a:noFill/>
          <a:ln w="12700">
            <a:solidFill>
              <a:srgbClr val="3443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36408" y="4005072"/>
            <a:ext cx="0" cy="182880"/>
          </a:xfrm>
          <a:prstGeom prst="line">
            <a:avLst/>
          </a:prstGeom>
          <a:noFill/>
          <a:ln w="12700">
            <a:solidFill>
              <a:srgbClr val="3443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76688" y="4005072"/>
            <a:ext cx="0" cy="182880"/>
          </a:xfrm>
          <a:prstGeom prst="line">
            <a:avLst/>
          </a:prstGeom>
          <a:noFill/>
          <a:ln w="12700">
            <a:solidFill>
              <a:srgbClr val="3443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5568" y="4096512"/>
            <a:ext cx="4754880" cy="-713232"/>
          </a:xfrm>
          <a:prstGeom prst="line">
            <a:avLst/>
          </a:prstGeom>
          <a:noFill/>
          <a:ln w="2794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115568" y="4096512"/>
            <a:ext cx="6172200" cy="-411480"/>
          </a:xfrm>
          <a:prstGeom prst="line">
            <a:avLst/>
          </a:prstGeom>
          <a:noFill/>
          <a:ln w="17780">
            <a:solidFill>
              <a:srgbClr val="AEB8C2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355080" y="3703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convergence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heterogeneous teams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7882128" y="41605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STSR advantage is less dominant in purely homogeneous maps.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4800600"/>
            <a:ext cx="192024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55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FINDINGS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7240" y="51480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3A36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5221224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61288" y="51663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components contribute positively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520440" y="51480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3A36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93592" y="5221224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04488" y="51663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parameter sharing mainly speeds convergence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6263640" y="51480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3A36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5221224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47688" y="51663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 reward improves performance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9006840" y="514807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3A36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79992" y="5221224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390888" y="51663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updating representation matters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E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et al., Frontiers in Neuroscience, 2023 — doi:10.3389/fnins.2023.1201370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0C8B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Takeaways: Shared Knowledge, Specialized Behavior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2064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8C2"/>
                </a:solidFill>
              </a:rPr>
              <a:t>What STSR contributes to heterogeneous MARL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24128"/>
            <a:ext cx="173736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CORE IDEAS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182027"/>
          </a:solidFill>
          <a:ln w="12700">
            <a:solidFill>
              <a:srgbClr val="20C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52704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Balance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1832" y="18013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Bridges shared learning and agent specialization.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182027"/>
          </a:solidFill>
          <a:ln w="12700">
            <a:solidFill>
              <a:srgbClr val="344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52704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Representation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28232" y="18013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heterogeneous observations/actions into a common latent space.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7240" y="2478024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182027"/>
          </a:solidFill>
          <a:ln w="12700">
            <a:solidFill>
              <a:srgbClr val="344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25877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Performance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1832" y="28620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Particularly effective for heterogeneous multi-agent scenarios.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63640" y="2478024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182027"/>
          </a:solidFill>
          <a:ln w="12700">
            <a:solidFill>
              <a:srgbClr val="344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25877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Transferability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28232" y="28620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Representations/policies can transfer to changing agent counts, suggesting curriculum learning.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1417320" cy="27432"/>
          </a:xfrm>
          <a:prstGeom prst="rect">
            <a:avLst/>
          </a:prstGeom>
          <a:solidFill>
            <a:srgbClr val="20C8B8"/>
          </a:solidFill>
          <a:ln w="12700">
            <a:solidFill>
              <a:srgbClr val="20C8B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496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C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94176" y="4498848"/>
            <a:ext cx="1042416" cy="0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4498848"/>
            <a:ext cx="1024128" cy="0"/>
          </a:xfrm>
          <a:prstGeom prst="line">
            <a:avLst/>
          </a:prstGeom>
          <a:noFill/>
          <a:ln w="20320">
            <a:solidFill>
              <a:srgbClr val="20C8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280160" y="411480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D3533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4187952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F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common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11480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322A18"/>
          </a:solidFill>
          <a:ln w="15240">
            <a:solidFill>
              <a:srgbClr val="F3B5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87952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9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 what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E9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different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0" y="411480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152A3A"/>
          </a:solidFill>
          <a:ln w="15240">
            <a:solidFill>
              <a:srgbClr val="87A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4187952"/>
            <a:ext cx="20939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what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learned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" y="5285232"/>
            <a:ext cx="10287000" cy="457200"/>
          </a:xfrm>
          <a:prstGeom prst="roundRect">
            <a:avLst>
              <a:gd name="adj" fmla="val 12000"/>
            </a:avLst>
          </a:prstGeom>
          <a:solidFill>
            <a:srgbClr val="201C22"/>
          </a:solidFill>
          <a:ln w="12700">
            <a:solidFill>
              <a:srgbClr val="5F53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5422392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AE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/ future direction: smaller gains in homogeneous settings · unit-type grouping may be less flexible than learned roles · clustering and curriculum transfer need further study.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960120" y="5925312"/>
            <a:ext cx="10287000" cy="384048"/>
          </a:xfrm>
          <a:prstGeom prst="roundRect">
            <a:avLst>
              <a:gd name="adj" fmla="val 14286"/>
            </a:avLst>
          </a:prstGeom>
          <a:solidFill>
            <a:srgbClr val="0F282B"/>
          </a:solidFill>
          <a:ln w="15240">
            <a:solidFill>
              <a:srgbClr val="20C8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6025896"/>
            <a:ext cx="9738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STSR shows heterogeneous agents can share common knowledge while preserving role-specific policies.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STSR Presentation</dc:title>
  <dc:subject>STSR — Heterogeneous MARL</dc:subject>
  <dc:creator>OpenAI</dc:creator>
  <cp:lastModifiedBy>OpenAI</cp:lastModifiedBy>
  <cp:revision>1</cp:revision>
  <dcterms:created xsi:type="dcterms:W3CDTF">2026-10-05T15:34:09Z</dcterms:created>
  <dcterms:modified xsi:type="dcterms:W3CDTF">2026-10-05T15:34:09Z</dcterms:modified>
</cp:coreProperties>
</file>